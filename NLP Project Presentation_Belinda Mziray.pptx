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theme/themeOverride11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7" r:id="rId17"/>
    <p:sldId id="266" r:id="rId18"/>
    <p:sldId id="275" r:id="rId19"/>
    <p:sldId id="26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1" d="100"/>
          <a:sy n="71" d="100"/>
        </p:scale>
        <p:origin x="462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5A6B5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C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TF-IDF (1-Gram)</c:v>
                </c:pt>
                <c:pt idx="1">
                  <c:v>Char N-grams</c:v>
                </c:pt>
                <c:pt idx="2">
                  <c:v>Word2Vec (10ep)</c:v>
                </c:pt>
                <c:pt idx="3">
                  <c:v>Word2Vec (1ep)</c:v>
                </c:pt>
                <c:pt idx="4">
                  <c:v>FastText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0.24</c:v>
                </c:pt>
                <c:pt idx="1">
                  <c:v>0.214</c:v>
                </c:pt>
                <c:pt idx="2">
                  <c:v>5.5E-2</c:v>
                </c:pt>
                <c:pt idx="3">
                  <c:v>7.5999999999999998E-2</c:v>
                </c:pt>
                <c:pt idx="4">
                  <c:v>4.7E-2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38-4EE1-AEB4-DF15BA8A28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809B8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C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TF-IDF (1-Gram)</c:v>
                </c:pt>
                <c:pt idx="1">
                  <c:v>Char N-grams</c:v>
                </c:pt>
                <c:pt idx="2">
                  <c:v>Word2Vec (10ep)</c:v>
                </c:pt>
                <c:pt idx="3">
                  <c:v>Word2Vec (1ep)</c:v>
                </c:pt>
                <c:pt idx="4">
                  <c:v>FastText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0.22</c:v>
                </c:pt>
                <c:pt idx="1">
                  <c:v>0.20699999999999999</c:v>
                </c:pt>
                <c:pt idx="2">
                  <c:v>5.0000000000000001E-3</c:v>
                </c:pt>
                <c:pt idx="3">
                  <c:v>1.4999999999999999E-2</c:v>
                </c:pt>
                <c:pt idx="4">
                  <c:v>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38-4EE1-AEB4-DF15BA8A28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Georgi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Georg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556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DFD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5A6B5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C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AfriBERTa-Large</c:v>
                </c:pt>
                <c:pt idx="1">
                  <c:v>SwahBERT</c:v>
                </c:pt>
                <c:pt idx="2">
                  <c:v>DistilBERT (10ep)</c:v>
                </c:pt>
                <c:pt idx="3">
                  <c:v>DistilBERT (3ep)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0.20200000000000001</c:v>
                </c:pt>
                <c:pt idx="1">
                  <c:v>0.155</c:v>
                </c:pt>
                <c:pt idx="2">
                  <c:v>0.14399999999999999</c:v>
                </c:pt>
                <c:pt idx="3">
                  <c:v>6.9000000000000006E-2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C6-42B4-8616-3415C84C02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809B8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C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AfriBERTa-Large</c:v>
                </c:pt>
                <c:pt idx="1">
                  <c:v>SwahBERT</c:v>
                </c:pt>
                <c:pt idx="2">
                  <c:v>DistilBERT (10ep)</c:v>
                </c:pt>
                <c:pt idx="3">
                  <c:v>DistilBERT (3ep)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0.109</c:v>
                </c:pt>
                <c:pt idx="1">
                  <c:v>6.6000000000000003E-2</c:v>
                </c:pt>
                <c:pt idx="2">
                  <c:v>7.1999999999999995E-2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C6-42B4-8616-3415C84C02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Georgi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Georg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556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DFDF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Georgia"/>
              </a:defRPr>
            </a:pPr>
            <a:r>
              <a:rPr lang="en-US" sz="1300" b="0" i="0" u="none" strike="noStrike">
                <a:solidFill>
                  <a:srgbClr val="1F2937"/>
                </a:solidFill>
                <a:latin typeface="Georgia"/>
              </a:rPr>
              <a:t>Test Accuracy: Baseline vs MLM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C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AfriBERTa-Large</c:v>
                </c:pt>
                <c:pt idx="1">
                  <c:v>SwahBERT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0.19270000000000001</c:v>
                </c:pt>
                <c:pt idx="1">
                  <c:v>0.13830000000000001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CA-4CF6-A409-8C3BEA6864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MLM Adaptation</c:v>
                </c:pt>
              </c:strCache>
            </c:strRef>
          </c:tx>
          <c:spPr>
            <a:solidFill>
              <a:srgbClr val="5A6B5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C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AfriBERTa-Large</c:v>
                </c:pt>
                <c:pt idx="1">
                  <c:v>SwahBERT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0.20549999999999999</c:v>
                </c:pt>
                <c:pt idx="1">
                  <c:v>0.14330000000000001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CA-4CF6-A409-8C3BEA6864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Georgi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Georg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556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DFDF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5A6B5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Georgia"/>
                  </a:defRPr>
                </a:pPr>
                <a:endParaRPr lang="en-C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TF-IDF</c:v>
                </c:pt>
                <c:pt idx="1">
                  <c:v>Char N-grams</c:v>
                </c:pt>
                <c:pt idx="2">
                  <c:v>Word2Vec 1ep</c:v>
                </c:pt>
                <c:pt idx="3">
                  <c:v>Word2Vec 10ep</c:v>
                </c:pt>
                <c:pt idx="4">
                  <c:v>FastText</c:v>
                </c:pt>
                <c:pt idx="5">
                  <c:v>DistilBERT 3ep</c:v>
                </c:pt>
                <c:pt idx="6">
                  <c:v>DistilBERT 10ep</c:v>
                </c:pt>
                <c:pt idx="7">
                  <c:v>SwahBERT</c:v>
                </c:pt>
                <c:pt idx="8">
                  <c:v>AfriBERTa</c:v>
                </c:pt>
                <c:pt idx="9">
                  <c:v>AfriBERTa + MLM</c:v>
                </c:pt>
                <c:pt idx="10">
                  <c:v>SwahBERT + MLM</c:v>
                </c:pt>
                <c:pt idx="11">
                  <c:v>Llama-3 Zero</c:v>
                </c:pt>
                <c:pt idx="12">
                  <c:v>Llama-3 Few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0.24</c:v>
                </c:pt>
                <c:pt idx="1">
                  <c:v>0.214</c:v>
                </c:pt>
                <c:pt idx="2">
                  <c:v>7.5999999999999998E-2</c:v>
                </c:pt>
                <c:pt idx="3">
                  <c:v>5.5E-2</c:v>
                </c:pt>
                <c:pt idx="4">
                  <c:v>4.7E-2</c:v>
                </c:pt>
                <c:pt idx="5">
                  <c:v>6.9000000000000006E-2</c:v>
                </c:pt>
                <c:pt idx="6">
                  <c:v>0.14399999999999999</c:v>
                </c:pt>
                <c:pt idx="7">
                  <c:v>0.155</c:v>
                </c:pt>
                <c:pt idx="8">
                  <c:v>0.20200000000000001</c:v>
                </c:pt>
                <c:pt idx="9">
                  <c:v>0.20599999999999999</c:v>
                </c:pt>
                <c:pt idx="10">
                  <c:v>0.14299999999999999</c:v>
                </c:pt>
                <c:pt idx="11">
                  <c:v>0.2</c:v>
                </c:pt>
                <c:pt idx="1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DD-402A-BBD2-31F505B9FD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Georgi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Georg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DFD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071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9161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4836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en/photo/1378055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hyperlink" Target="https://www.goodfreephotos.com/kenya/other-kenya/sunset-over-the-plains-landscape-in-kenya.jpg.ph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dfreephotos.com/kenya/other-kenya/sunset-over-the-plains-landscape-in-kenya.jpg.php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5" Type="http://schemas.openxmlformats.org/officeDocument/2006/relationships/hyperlink" Target="https://www.goodfreephotos.com/kenya/other-kenya/sunset-over-the-plains-landscape-in-kenya.jpg.php" TargetMode="Externa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5" Type="http://schemas.openxmlformats.org/officeDocument/2006/relationships/hyperlink" Target="https://www.goodfreephotos.com/kenya/other-kenya/sunset-over-the-plains-landscape-in-kenya.jpg.php" TargetMode="Externa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chart" Target="../charts/chart1.xml"/><Relationship Id="rId5" Type="http://schemas.openxmlformats.org/officeDocument/2006/relationships/hyperlink" Target="https://www.goodfreephotos.com/kenya/other-kenya/sunset-over-the-plains-landscape-in-kenya.jpg.php" TargetMode="Externa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6" Type="http://schemas.openxmlformats.org/officeDocument/2006/relationships/chart" Target="../charts/chart2.xml"/><Relationship Id="rId5" Type="http://schemas.openxmlformats.org/officeDocument/2006/relationships/hyperlink" Target="https://www.goodfreephotos.com/kenya/other-kenya/sunset-over-the-plains-landscape-in-kenya.jpg.php" TargetMode="Externa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6" Type="http://schemas.openxmlformats.org/officeDocument/2006/relationships/chart" Target="../charts/chart3.xml"/><Relationship Id="rId5" Type="http://schemas.openxmlformats.org/officeDocument/2006/relationships/hyperlink" Target="https://www.goodfreephotos.com/kenya/other-kenya/sunset-over-the-plains-landscape-in-kenya.jpg.php" TargetMode="Externa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Relationship Id="rId5" Type="http://schemas.openxmlformats.org/officeDocument/2006/relationships/hyperlink" Target="https://www.goodfreephotos.com/kenya/other-kenya/sunset-over-the-plains-landscape-in-kenya.jpg.php" TargetMode="Externa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Relationship Id="rId6" Type="http://schemas.openxmlformats.org/officeDocument/2006/relationships/chart" Target="../charts/chart4.xml"/><Relationship Id="rId5" Type="http://schemas.openxmlformats.org/officeDocument/2006/relationships/hyperlink" Target="https://www.goodfreephotos.com/kenya/other-kenya/sunset-over-the-plains-landscape-in-kenya.jpg.php" TargetMode="Externa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12.png"/><Relationship Id="rId5" Type="http://schemas.openxmlformats.org/officeDocument/2006/relationships/hyperlink" Target="https://www.goodfreephotos.com/kenya/other-kenya/sunset-over-the-plains-landscape-in-kenya.jpg.php" TargetMode="Externa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Relationship Id="rId5" Type="http://schemas.openxmlformats.org/officeDocument/2006/relationships/hyperlink" Target="https://www.goodfreephotos.com/kenya/other-kenya/sunset-over-the-plains-landscape-in-kenya.jpg.php" TargetMode="Externa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3.jp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hyperlink" Target="https://www.goodfreephotos.com/kenya/other-kenya/sunset-over-the-plains-landscape-in-kenya.jpg.php" TargetMode="External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71600" y="1463040"/>
            <a:ext cx="9418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of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Swahili Proverbs.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7490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Comparative Study of NLP Methods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Belinda Mziray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54864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HSLU MSc IT, Digitalization &amp; Sustainability |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7924C4-672F-BFEA-153E-CA888B667F2E}"/>
              </a:ext>
            </a:extLst>
          </p:cNvPr>
          <p:cNvGrpSpPr/>
          <p:nvPr/>
        </p:nvGrpSpPr>
        <p:grpSpPr>
          <a:xfrm>
            <a:off x="502920" y="6355080"/>
            <a:ext cx="11155680" cy="475488"/>
            <a:chOff x="502920" y="6355080"/>
            <a:chExt cx="11155680" cy="475488"/>
          </a:xfrm>
        </p:grpSpPr>
        <p:sp>
          <p:nvSpPr>
            <p:cNvPr id="8" name="Text 6"/>
            <p:cNvSpPr/>
            <p:nvPr/>
          </p:nvSpPr>
          <p:spPr>
            <a:xfrm>
              <a:off x="502920" y="6355080"/>
              <a:ext cx="11155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Elimu ni bahari.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" y="6601968"/>
              <a:ext cx="11155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Literal Translation: Education is an ocean.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 amt="17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A10FCA-83D7-1659-B6C6-46AC81A2A4FC}"/>
              </a:ext>
            </a:extLst>
          </p:cNvPr>
          <p:cNvGrpSpPr/>
          <p:nvPr/>
        </p:nvGrpSpPr>
        <p:grpSpPr>
          <a:xfrm>
            <a:off x="502920" y="6355080"/>
            <a:ext cx="11155680" cy="475488"/>
            <a:chOff x="502920" y="6355080"/>
            <a:chExt cx="11155680" cy="475488"/>
          </a:xfrm>
        </p:grpSpPr>
        <p:sp>
          <p:nvSpPr>
            <p:cNvPr id="17" name="Text 15"/>
            <p:cNvSpPr/>
            <p:nvPr/>
          </p:nvSpPr>
          <p:spPr>
            <a:xfrm>
              <a:off x="502920" y="6355080"/>
              <a:ext cx="11155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700" b="1" i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Kawia ufike.</a:t>
              </a:r>
              <a:endParaRPr lang="en-US" sz="700" i="1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02920" y="6601968"/>
              <a:ext cx="11155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6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Literal Translation: Delay so that you may arrive. (Better late than never)</a:t>
              </a:r>
              <a:endParaRPr lang="en-US" sz="600" i="1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F2721C4-22D6-B2BB-E653-0CFE338EC9CE}"/>
              </a:ext>
            </a:extLst>
          </p:cNvPr>
          <p:cNvGrpSpPr/>
          <p:nvPr/>
        </p:nvGrpSpPr>
        <p:grpSpPr>
          <a:xfrm>
            <a:off x="746311" y="1859727"/>
            <a:ext cx="7961997" cy="3703320"/>
            <a:chOff x="3657600" y="1691640"/>
            <a:chExt cx="7961997" cy="370332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74F04B1-432A-C611-F095-38F9C651CF43}"/>
                </a:ext>
              </a:extLst>
            </p:cNvPr>
            <p:cNvGrpSpPr/>
            <p:nvPr/>
          </p:nvGrpSpPr>
          <p:grpSpPr>
            <a:xfrm>
              <a:off x="3657600" y="1691640"/>
              <a:ext cx="7955280" cy="502920"/>
              <a:chOff x="3657600" y="1691640"/>
              <a:chExt cx="7955280" cy="502920"/>
            </a:xfrm>
          </p:grpSpPr>
          <p:sp>
            <p:nvSpPr>
              <p:cNvPr id="4" name="Text 2"/>
              <p:cNvSpPr/>
              <p:nvPr/>
            </p:nvSpPr>
            <p:spPr>
              <a:xfrm>
                <a:off x="3657600" y="1691640"/>
                <a:ext cx="7315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809B8E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01</a:t>
                </a:r>
                <a:endParaRPr lang="en-US" sz="2200" b="1" dirty="0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4480560" y="1737360"/>
                <a:ext cx="7132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1F2937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Problem &amp; Dataset Context</a:t>
                </a:r>
                <a:endParaRPr lang="en-US" sz="1800" b="1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9095053-E693-A648-D11C-09D8F8094FDA}"/>
                </a:ext>
              </a:extLst>
            </p:cNvPr>
            <p:cNvGrpSpPr/>
            <p:nvPr/>
          </p:nvGrpSpPr>
          <p:grpSpPr>
            <a:xfrm>
              <a:off x="3657600" y="2331720"/>
              <a:ext cx="7955280" cy="502920"/>
              <a:chOff x="3657600" y="2331720"/>
              <a:chExt cx="7955280" cy="502920"/>
            </a:xfrm>
          </p:grpSpPr>
          <p:sp>
            <p:nvSpPr>
              <p:cNvPr id="6" name="Text 4"/>
              <p:cNvSpPr/>
              <p:nvPr/>
            </p:nvSpPr>
            <p:spPr>
              <a:xfrm>
                <a:off x="3657600" y="2331720"/>
                <a:ext cx="7315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809B8E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02</a:t>
                </a:r>
                <a:endParaRPr lang="en-US" sz="2200" b="1" dirty="0"/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4480560" y="2377440"/>
                <a:ext cx="7132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1F2937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Methods Overview: From Static to LLMs</a:t>
                </a:r>
                <a:endParaRPr lang="en-US" sz="1800" b="1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691BCCF-AD51-752A-2D52-46EA583630B1}"/>
                </a:ext>
              </a:extLst>
            </p:cNvPr>
            <p:cNvGrpSpPr/>
            <p:nvPr/>
          </p:nvGrpSpPr>
          <p:grpSpPr>
            <a:xfrm>
              <a:off x="3657600" y="2994660"/>
              <a:ext cx="7955280" cy="502920"/>
              <a:chOff x="3657600" y="3611880"/>
              <a:chExt cx="7955280" cy="502920"/>
            </a:xfrm>
          </p:grpSpPr>
          <p:sp>
            <p:nvSpPr>
              <p:cNvPr id="10" name="Text 8"/>
              <p:cNvSpPr/>
              <p:nvPr/>
            </p:nvSpPr>
            <p:spPr>
              <a:xfrm>
                <a:off x="3657600" y="3611880"/>
                <a:ext cx="7315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809B8E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03</a:t>
                </a:r>
                <a:endParaRPr lang="en-US" sz="2200" b="1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4480560" y="3657600"/>
                <a:ext cx="7132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1F2937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Task </a:t>
                </a:r>
                <a:r>
                  <a:rPr lang="en-US" b="1" dirty="0">
                    <a:solidFill>
                      <a:srgbClr val="1F2937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Walkthrough and Results</a:t>
                </a:r>
                <a:r>
                  <a:rPr lang="en-US" sz="1800" b="1" dirty="0">
                    <a:solidFill>
                      <a:srgbClr val="1F2937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 (Static, BERT, MLM, Llama)</a:t>
                </a:r>
                <a:endParaRPr lang="en-US" sz="1800" b="1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9FE064B-0737-1BE3-493E-D0FC1E1FB389}"/>
                </a:ext>
              </a:extLst>
            </p:cNvPr>
            <p:cNvGrpSpPr/>
            <p:nvPr/>
          </p:nvGrpSpPr>
          <p:grpSpPr>
            <a:xfrm>
              <a:off x="3664317" y="3698748"/>
              <a:ext cx="7955280" cy="502920"/>
              <a:chOff x="3657600" y="4251960"/>
              <a:chExt cx="7955280" cy="502920"/>
            </a:xfrm>
          </p:grpSpPr>
          <p:sp>
            <p:nvSpPr>
              <p:cNvPr id="12" name="Text 10"/>
              <p:cNvSpPr/>
              <p:nvPr/>
            </p:nvSpPr>
            <p:spPr>
              <a:xfrm>
                <a:off x="3657600" y="4251960"/>
                <a:ext cx="7315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809B8E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04</a:t>
                </a:r>
                <a:endParaRPr lang="en-US" sz="2200" b="1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4480560" y="4297680"/>
                <a:ext cx="7132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1F2937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The Challenge</a:t>
                </a:r>
                <a:endParaRPr lang="en-US" sz="1800" b="1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AEB864F-6F6E-049B-737C-400408D9F923}"/>
                </a:ext>
              </a:extLst>
            </p:cNvPr>
            <p:cNvGrpSpPr/>
            <p:nvPr/>
          </p:nvGrpSpPr>
          <p:grpSpPr>
            <a:xfrm>
              <a:off x="3657600" y="4892040"/>
              <a:ext cx="7955280" cy="502920"/>
              <a:chOff x="3657600" y="4892040"/>
              <a:chExt cx="7955280" cy="502920"/>
            </a:xfrm>
          </p:grpSpPr>
          <p:sp>
            <p:nvSpPr>
              <p:cNvPr id="14" name="Text 12"/>
              <p:cNvSpPr/>
              <p:nvPr/>
            </p:nvSpPr>
            <p:spPr>
              <a:xfrm>
                <a:off x="3657600" y="4892040"/>
                <a:ext cx="7315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809B8E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06</a:t>
                </a:r>
                <a:endParaRPr lang="en-US" sz="2200" b="1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4480560" y="4937760"/>
                <a:ext cx="7132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1F2937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 Future Work &amp; Recommendations</a:t>
                </a:r>
                <a:endParaRPr lang="en-US" sz="1800" b="1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72176CB-2C0E-A058-0643-7FCDF8EF1416}"/>
                </a:ext>
              </a:extLst>
            </p:cNvPr>
            <p:cNvGrpSpPr/>
            <p:nvPr/>
          </p:nvGrpSpPr>
          <p:grpSpPr>
            <a:xfrm>
              <a:off x="3657600" y="4265676"/>
              <a:ext cx="7955280" cy="502920"/>
              <a:chOff x="3657600" y="4251960"/>
              <a:chExt cx="7955280" cy="502920"/>
            </a:xfrm>
          </p:grpSpPr>
          <p:sp>
            <p:nvSpPr>
              <p:cNvPr id="24" name="Text 10">
                <a:extLst>
                  <a:ext uri="{FF2B5EF4-FFF2-40B4-BE49-F238E27FC236}">
                    <a16:creationId xmlns:a16="http://schemas.microsoft.com/office/drawing/2014/main" id="{5B3B1DD7-550C-DEEB-704F-A0811CDDB97B}"/>
                  </a:ext>
                </a:extLst>
              </p:cNvPr>
              <p:cNvSpPr/>
              <p:nvPr/>
            </p:nvSpPr>
            <p:spPr>
              <a:xfrm>
                <a:off x="3657600" y="4251960"/>
                <a:ext cx="7315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809B8E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05</a:t>
                </a:r>
                <a:endParaRPr lang="en-US" sz="2200" b="1" dirty="0"/>
              </a:p>
            </p:txBody>
          </p:sp>
          <p:sp>
            <p:nvSpPr>
              <p:cNvPr id="25" name="Text 11">
                <a:extLst>
                  <a:ext uri="{FF2B5EF4-FFF2-40B4-BE49-F238E27FC236}">
                    <a16:creationId xmlns:a16="http://schemas.microsoft.com/office/drawing/2014/main" id="{DF95CDAA-EDBE-E819-6E2C-DA43F8E739D3}"/>
                  </a:ext>
                </a:extLst>
              </p:cNvPr>
              <p:cNvSpPr/>
              <p:nvPr/>
            </p:nvSpPr>
            <p:spPr>
              <a:xfrm>
                <a:off x="4480560" y="4297680"/>
                <a:ext cx="7132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1F2937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Conclusion</a:t>
                </a:r>
                <a:endParaRPr lang="en-US" sz="1800" b="1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Swahili Proverb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DFD2C7-ACA2-8528-29DE-F38E200820F5}"/>
              </a:ext>
            </a:extLst>
          </p:cNvPr>
          <p:cNvGrpSpPr/>
          <p:nvPr/>
        </p:nvGrpSpPr>
        <p:grpSpPr>
          <a:xfrm>
            <a:off x="1310640" y="1389888"/>
            <a:ext cx="3657600" cy="1554480"/>
            <a:chOff x="640080" y="1463040"/>
            <a:chExt cx="3657600" cy="1554480"/>
          </a:xfrm>
        </p:grpSpPr>
        <p:sp>
          <p:nvSpPr>
            <p:cNvPr id="4" name="Text 2"/>
            <p:cNvSpPr/>
            <p:nvPr/>
          </p:nvSpPr>
          <p:spPr>
            <a:xfrm>
              <a:off x="640080" y="1463040"/>
              <a:ext cx="365760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400" b="1" dirty="0">
                  <a:solidFill>
                    <a:srgbClr val="809B8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5,060</a:t>
              </a:r>
              <a:endParaRPr lang="en-US" sz="6400" b="1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40080" y="265176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Total Proverbs</a:t>
              </a:r>
              <a:endParaRPr lang="en-US" sz="14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73BA617-1B12-89E6-BEC1-121975F05CD7}"/>
              </a:ext>
            </a:extLst>
          </p:cNvPr>
          <p:cNvGrpSpPr/>
          <p:nvPr/>
        </p:nvGrpSpPr>
        <p:grpSpPr>
          <a:xfrm>
            <a:off x="7223760" y="1353670"/>
            <a:ext cx="3657600" cy="1554480"/>
            <a:chOff x="4434840" y="1463040"/>
            <a:chExt cx="3657600" cy="1554480"/>
          </a:xfrm>
        </p:grpSpPr>
        <p:sp>
          <p:nvSpPr>
            <p:cNvPr id="6" name="Text 4"/>
            <p:cNvSpPr/>
            <p:nvPr/>
          </p:nvSpPr>
          <p:spPr>
            <a:xfrm>
              <a:off x="4434840" y="1463040"/>
              <a:ext cx="365760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400" b="1" dirty="0">
                  <a:solidFill>
                    <a:srgbClr val="5A6B5D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56</a:t>
              </a:r>
              <a:endParaRPr lang="en-US" sz="6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434840" y="265176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4B556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Semantic Categories</a:t>
              </a:r>
              <a:endParaRPr lang="en-US" sz="1400" dirty="0"/>
            </a:p>
          </p:txBody>
        </p:sp>
      </p:grpSp>
      <p:sp>
        <p:nvSpPr>
          <p:cNvPr id="10" name="Text 8"/>
          <p:cNvSpPr/>
          <p:nvPr/>
        </p:nvSpPr>
        <p:spPr>
          <a:xfrm>
            <a:off x="502920" y="30976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Stratified Split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794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D1E7D0"/>
          </a:solidFill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137160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3,643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(70%)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3794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D1E7D0"/>
          </a:solidFill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452628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628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(10%)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3794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D1E7D0"/>
          </a:solidFill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768096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1,012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8096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(20%)</a:t>
            </a:r>
            <a:endParaRPr lang="en-US" sz="12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B4AB739-24F1-15BB-F90D-B53D6BD084F3}"/>
              </a:ext>
            </a:extLst>
          </p:cNvPr>
          <p:cNvGrpSpPr/>
          <p:nvPr/>
        </p:nvGrpSpPr>
        <p:grpSpPr>
          <a:xfrm>
            <a:off x="328706" y="4754879"/>
            <a:ext cx="11329894" cy="1371601"/>
            <a:chOff x="502920" y="4983480"/>
            <a:chExt cx="11155680" cy="1143000"/>
          </a:xfrm>
        </p:grpSpPr>
        <p:sp>
          <p:nvSpPr>
            <p:cNvPr id="20" name="Shape 18"/>
            <p:cNvSpPr/>
            <p:nvPr/>
          </p:nvSpPr>
          <p:spPr>
            <a:xfrm>
              <a:off x="502920" y="4983480"/>
              <a:ext cx="11155680" cy="1143000"/>
            </a:xfrm>
            <a:prstGeom prst="roundRect">
              <a:avLst>
                <a:gd name="adj" fmla="val 6400"/>
              </a:avLst>
            </a:prstGeom>
            <a:solidFill>
              <a:srgbClr val="F3F4F6"/>
            </a:solidFill>
            <a:ln w="6350">
              <a:solidFill>
                <a:srgbClr val="809B8E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1" name="Shape 19"/>
            <p:cNvSpPr/>
            <p:nvPr/>
          </p:nvSpPr>
          <p:spPr>
            <a:xfrm>
              <a:off x="640080" y="5074920"/>
              <a:ext cx="0" cy="960120"/>
            </a:xfrm>
            <a:prstGeom prst="line">
              <a:avLst/>
            </a:prstGeom>
            <a:noFill/>
            <a:ln w="38100">
              <a:solidFill>
                <a:srgbClr val="809B8E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2" name="Text 20"/>
            <p:cNvSpPr/>
            <p:nvPr/>
          </p:nvSpPr>
          <p:spPr>
            <a:xfrm>
              <a:off x="868680" y="5120640"/>
              <a:ext cx="1069848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Key challenge: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4B556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Metaphorical text — surface words rarely match labels.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4B5563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Class imbalance ranges from 5 to 200+ examples per category.</a:t>
              </a:r>
              <a:endParaRPr lang="en-US" sz="140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4AE338C-31B4-9342-815E-820162E5B85F}"/>
              </a:ext>
            </a:extLst>
          </p:cNvPr>
          <p:cNvGrpSpPr/>
          <p:nvPr/>
        </p:nvGrpSpPr>
        <p:grpSpPr>
          <a:xfrm>
            <a:off x="502920" y="6355080"/>
            <a:ext cx="11155680" cy="475488"/>
            <a:chOff x="502920" y="6355080"/>
            <a:chExt cx="11155680" cy="475488"/>
          </a:xfrm>
        </p:grpSpPr>
        <p:sp>
          <p:nvSpPr>
            <p:cNvPr id="24" name="Text 22"/>
            <p:cNvSpPr/>
            <p:nvPr/>
          </p:nvSpPr>
          <p:spPr>
            <a:xfrm>
              <a:off x="502920" y="6355080"/>
              <a:ext cx="11155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i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Haba na haba hujaza kibaba.</a:t>
              </a:r>
              <a:endParaRPr lang="en-US" sz="900" i="1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02920" y="6601968"/>
              <a:ext cx="11155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Literal Translation: Little by little fills the measure.</a:t>
              </a:r>
              <a:endParaRPr lang="en-US" sz="800" i="1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7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B2244C-F1E0-6DD3-1F43-A4C695E7A1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882"/>
          <a:stretch>
            <a:fillRect/>
          </a:stretch>
        </p:blipFill>
        <p:spPr bwMode="auto">
          <a:xfrm>
            <a:off x="1493024" y="643467"/>
            <a:ext cx="9205951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316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20D30-C34E-28FA-DDD8-5D3B290B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he diagram illustrates a distribution of word counts for a collection of proverbs, with the mean word count being 5.0 words.&#10;&#10;AI-generated content may be incorrect.">
            <a:extLst>
              <a:ext uri="{FF2B5EF4-FFF2-40B4-BE49-F238E27FC236}">
                <a16:creationId xmlns:a16="http://schemas.microsoft.com/office/drawing/2014/main" id="{9B87B8B0-CDF3-720C-8F14-555DC9FFC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760" y="643467"/>
            <a:ext cx="917047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06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ECDAB-1437-C730-B78A-D311A040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4F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209003D-F0DE-F463-E09C-EF1F458052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2478424" y="643467"/>
            <a:ext cx="7235151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5400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8756F1-248B-80AA-CFF4-0DE4BBBB1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806872"/>
            <a:ext cx="10905066" cy="324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89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7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is a visual representation of a collection of various African words and phrases, likely arranged in a word cloud format to emphasize the prominence of certain words.&#10;&#10;AI-generated content may be incorrect.">
            <a:extLst>
              <a:ext uri="{FF2B5EF4-FFF2-40B4-BE49-F238E27FC236}">
                <a16:creationId xmlns:a16="http://schemas.microsoft.com/office/drawing/2014/main" id="{8BFD806E-803E-A8B9-E2E6-1B64C5666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847" y="321734"/>
            <a:ext cx="4135473" cy="290517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he image contains a collage of Swahili words and phrases, including numbers, common words, and various expressions, forming a visually rich tapestry of language.&#10;&#10;AI-generated content may be incorrect.">
            <a:extLst>
              <a:ext uri="{FF2B5EF4-FFF2-40B4-BE49-F238E27FC236}">
                <a16:creationId xmlns:a16="http://schemas.microsoft.com/office/drawing/2014/main" id="{19C60794-BFE6-47B5-40B4-DEA536651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595" y="321734"/>
            <a:ext cx="4135473" cy="29051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ildren,&#10;&#10;AI-generated content may be incorrect.">
            <a:extLst>
              <a:ext uri="{FF2B5EF4-FFF2-40B4-BE49-F238E27FC236}">
                <a16:creationId xmlns:a16="http://schemas.microsoft.com/office/drawing/2014/main" id="{A99F9637-AF84-A7D9-3093-8BF8EAF597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771" y="3631096"/>
            <a:ext cx="3929623" cy="2760560"/>
          </a:xfrm>
          <a:prstGeom prst="rect">
            <a:avLst/>
          </a:prstGeom>
        </p:spPr>
      </p:pic>
      <p:pic>
        <p:nvPicPr>
          <p:cNvPr id="3" name="Picture 2" descr="The image is a word cloud containing various African languages and words, including some Swahili proverbs.&#10;&#10;AI-generated content may be incorrect.">
            <a:extLst>
              <a:ext uri="{FF2B5EF4-FFF2-40B4-BE49-F238E27FC236}">
                <a16:creationId xmlns:a16="http://schemas.microsoft.com/office/drawing/2014/main" id="{357D0F17-DB95-9279-1E78-5093A47A73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9520" y="3631096"/>
            <a:ext cx="3929623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24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4">
            <a:alphaModFix amt="17000"/>
            <a:lum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Classification Methods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743200" cy="4389120"/>
          </a:xfrm>
          <a:prstGeom prst="roundRect">
            <a:avLst>
              <a:gd name="adj" fmla="val 3333"/>
            </a:avLst>
          </a:prstGeom>
          <a:solidFill>
            <a:srgbClr val="FDFDF5"/>
          </a:solidFill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0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80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34440" y="3840480"/>
            <a:ext cx="1280160" cy="0"/>
          </a:xfrm>
          <a:prstGeom prst="line">
            <a:avLst/>
          </a:prstGeom>
          <a:noFill/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Word2Vec,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FastText</a:t>
            </a:r>
            <a:r>
              <a:rPr lang="en-US" sz="20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 N-grams. 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0712" y="1554480"/>
            <a:ext cx="2743200" cy="4389120"/>
          </a:xfrm>
          <a:prstGeom prst="roundRect">
            <a:avLst>
              <a:gd name="adj" fmla="val 3333"/>
            </a:avLst>
          </a:prstGeom>
          <a:solidFill>
            <a:srgbClr val="FDFDF5"/>
          </a:solidFill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3410712" y="17830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80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</a:p>
          <a:p>
            <a:pPr algn="ctr"/>
            <a:r>
              <a:rPr lang="en-US" sz="3200" b="1" dirty="0">
                <a:solidFill>
                  <a:srgbClr val="80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</a:p>
        </p:txBody>
      </p:sp>
      <p:sp>
        <p:nvSpPr>
          <p:cNvPr id="11" name="Text 9"/>
          <p:cNvSpPr/>
          <p:nvPr/>
        </p:nvSpPr>
        <p:spPr>
          <a:xfrm>
            <a:off x="3410712" y="3246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42232" y="3840480"/>
            <a:ext cx="1280160" cy="0"/>
          </a:xfrm>
          <a:prstGeom prst="line">
            <a:avLst/>
          </a:prstGeom>
          <a:noFill/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3593592" y="39776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Contextual learning </a:t>
            </a:r>
          </a:p>
          <a:p>
            <a:pPr marL="0" indent="0" algn="ctr">
              <a:buNone/>
            </a:pPr>
            <a:endParaRPr lang="en-US" sz="1600" dirty="0">
              <a:solidFill>
                <a:srgbClr val="4B5563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AfriBERTa</a:t>
            </a:r>
            <a:endParaRPr lang="en-US" sz="1600" dirty="0">
              <a:solidFill>
                <a:srgbClr val="4B5563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SwahBERT</a:t>
            </a:r>
            <a:endParaRPr lang="en-US" sz="1600" dirty="0">
              <a:solidFill>
                <a:srgbClr val="4B5563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DistilBERT</a:t>
            </a:r>
            <a:r>
              <a:rPr lang="en-US" sz="16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-multilingual.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18504" y="1554480"/>
            <a:ext cx="2743200" cy="4389120"/>
          </a:xfrm>
          <a:prstGeom prst="roundRect">
            <a:avLst>
              <a:gd name="adj" fmla="val 3333"/>
            </a:avLst>
          </a:prstGeom>
          <a:solidFill>
            <a:srgbClr val="FDFDF5"/>
          </a:solidFill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 dirty="0"/>
          </a:p>
        </p:txBody>
      </p:sp>
      <p:sp>
        <p:nvSpPr>
          <p:cNvPr id="15" name="Text 13"/>
          <p:cNvSpPr/>
          <p:nvPr/>
        </p:nvSpPr>
        <p:spPr>
          <a:xfrm>
            <a:off x="6318504" y="17830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09B8E"/>
                </a:solidFill>
                <a:latin typeface="Georgia" pitchFamily="34" charset="0"/>
              </a:rPr>
              <a:t>Task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809B8E"/>
                </a:solidFill>
                <a:latin typeface="Georgia" pitchFamily="34" charset="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18504" y="3246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MLM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050024" y="3840480"/>
            <a:ext cx="1280160" cy="0"/>
          </a:xfrm>
          <a:prstGeom prst="line">
            <a:avLst/>
          </a:prstGeom>
          <a:noFill/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6501384" y="39776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26296" y="1554480"/>
            <a:ext cx="2743200" cy="4389120"/>
          </a:xfrm>
          <a:prstGeom prst="roundRect">
            <a:avLst>
              <a:gd name="adj" fmla="val 3333"/>
            </a:avLst>
          </a:prstGeom>
          <a:solidFill>
            <a:srgbClr val="FDFDF5"/>
          </a:solidFill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9226296" y="17830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0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80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226296" y="3246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957816" y="3840480"/>
            <a:ext cx="1280160" cy="0"/>
          </a:xfrm>
          <a:prstGeom prst="line">
            <a:avLst/>
          </a:prstGeom>
          <a:noFill/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9409176" y="39776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Llama-3-8B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scenarios. 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981F241-B071-7A11-7EF9-3FD0A0AB9F32}"/>
              </a:ext>
            </a:extLst>
          </p:cNvPr>
          <p:cNvGrpSpPr/>
          <p:nvPr/>
        </p:nvGrpSpPr>
        <p:grpSpPr>
          <a:xfrm>
            <a:off x="502920" y="6355080"/>
            <a:ext cx="11155680" cy="475488"/>
            <a:chOff x="502920" y="6355080"/>
            <a:chExt cx="11155680" cy="475488"/>
          </a:xfrm>
        </p:grpSpPr>
        <p:sp>
          <p:nvSpPr>
            <p:cNvPr id="25" name="Text 23"/>
            <p:cNvSpPr/>
            <p:nvPr/>
          </p:nvSpPr>
          <p:spPr>
            <a:xfrm>
              <a:off x="502920" y="6355080"/>
              <a:ext cx="11155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700" b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Pole pole ndio mwendo.</a:t>
              </a:r>
              <a:endParaRPr lang="en-US" sz="7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02920" y="6601968"/>
              <a:ext cx="11155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6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Literal Translation: Slowly slowly is the way to go.</a:t>
              </a:r>
              <a:endParaRPr lang="en-US" sz="600" dirty="0"/>
            </a:p>
          </p:txBody>
        </p:sp>
      </p:grpSp>
      <p:sp>
        <p:nvSpPr>
          <p:cNvPr id="27" name="Text 11">
            <a:extLst>
              <a:ext uri="{FF2B5EF4-FFF2-40B4-BE49-F238E27FC236}">
                <a16:creationId xmlns:a16="http://schemas.microsoft.com/office/drawing/2014/main" id="{C1779CE3-3FEB-510A-4CCF-846D06E823B6}"/>
              </a:ext>
            </a:extLst>
          </p:cNvPr>
          <p:cNvSpPr/>
          <p:nvPr/>
        </p:nvSpPr>
        <p:spPr>
          <a:xfrm>
            <a:off x="6501384" y="4041648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Contextual transfer learning </a:t>
            </a:r>
          </a:p>
          <a:p>
            <a:endParaRPr lang="en-US" sz="1600" dirty="0">
              <a:solidFill>
                <a:srgbClr val="4B5563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SwahBERT</a:t>
            </a:r>
            <a:endParaRPr lang="en-US" sz="1600" dirty="0">
              <a:solidFill>
                <a:srgbClr val="4B5563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DistilBERT</a:t>
            </a:r>
            <a:r>
              <a:rPr lang="en-US" sz="16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-multilingual.</a:t>
            </a:r>
            <a:endParaRPr lang="en-US" sz="16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blipFill dpi="0" rotWithShape="1">
          <a:blip r:embed="rId4">
            <a:alphaModFix amt="17000"/>
            <a:lum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Experiment Tracking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experiments tracked across three platforms for redundancy and reproducibility.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1E7D0"/>
          </a:solidFill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Weights &amp; Biases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dashboards · Artifact storage · Shareable URLs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1E7D0"/>
          </a:solidFill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438912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2514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· Unlimited free · Fully local logging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2440" y="1920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D1E7D0"/>
          </a:solidFill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818388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MLflow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75320" y="2514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registry · Industry standard · Self-hosted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41648"/>
            <a:ext cx="530352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502920" y="4160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41605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Colab + T4 GPU (15.6 GB)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4531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44531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Drive + gdown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7457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474573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 2.x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50383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50383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HuggingFace Transformers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5330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ML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53309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5623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56235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Gensim (Word2Vec, FastText)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6576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3F4F6"/>
          </a:solidFill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6309360" y="3794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Code Architecture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09360" y="4160520"/>
            <a:ext cx="5212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training code is uncontaminated by tracking calls.
All metrics, models, and artifacts logged in a single dedicated cell at the end of each notebook.
</a:t>
            </a:r>
            <a:r>
              <a:rPr lang="en-US" sz="1100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 include: per-epoch train_loss · val_acc · val_f1 · test metrics · hyperparameters · model checkpoints · prediction tables.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Mtaalamu hupimwa kwa kazi yake.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60196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Literal Translation: An expert is measured by their work.</a:t>
            </a:r>
            <a:endParaRPr lang="en-US" sz="11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4">
            <a:alphaModFix amt="17000"/>
            <a:lum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1: Static Embeddings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D1E7D0"/>
          </a:solidFill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Classifier:  </a:t>
            </a:r>
            <a:r>
              <a:rPr lang="en-US" sz="13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Linear(input→128)  →  ReLU  →  Linear(128→56)  ·  CrossEntropyLoss  ·  Adam(lr=0.001)  ·  50 epochs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653262892"/>
              </p:ext>
            </p:extLst>
          </p:nvPr>
        </p:nvGraphicFramePr>
        <p:xfrm>
          <a:off x="502920" y="2103119"/>
          <a:ext cx="7772400" cy="3915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Shape 4"/>
          <p:cNvSpPr/>
          <p:nvPr/>
        </p:nvSpPr>
        <p:spPr>
          <a:xfrm>
            <a:off x="8458200" y="210312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5"/>
          <p:cNvSpPr/>
          <p:nvPr/>
        </p:nvSpPr>
        <p:spPr>
          <a:xfrm>
            <a:off x="859536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595360" y="2542032"/>
            <a:ext cx="548640" cy="0"/>
          </a:xfrm>
          <a:prstGeom prst="line">
            <a:avLst/>
          </a:prstGeom>
          <a:noFill/>
          <a:ln w="2540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7"/>
          <p:cNvSpPr/>
          <p:nvPr/>
        </p:nvSpPr>
        <p:spPr>
          <a:xfrm>
            <a:off x="8595360" y="265176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wins (24.0% / 22.0%)</a:t>
            </a:r>
            <a:r>
              <a:rPr lang="en-US" sz="16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1600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Word2Vec/FastText underperform: the 5,060-proverb corpus is too small for dense embeddings to converge.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0324FA0-046E-E324-08A3-B0A62CC6172B}"/>
              </a:ext>
            </a:extLst>
          </p:cNvPr>
          <p:cNvGrpSpPr/>
          <p:nvPr/>
        </p:nvGrpSpPr>
        <p:grpSpPr>
          <a:xfrm>
            <a:off x="502920" y="6355080"/>
            <a:ext cx="11155680" cy="475488"/>
            <a:chOff x="502920" y="6355080"/>
            <a:chExt cx="11155680" cy="475488"/>
          </a:xfrm>
        </p:grpSpPr>
        <p:sp>
          <p:nvSpPr>
            <p:cNvPr id="13" name="Text 10"/>
            <p:cNvSpPr/>
            <p:nvPr/>
          </p:nvSpPr>
          <p:spPr>
            <a:xfrm>
              <a:off x="502920" y="6355080"/>
              <a:ext cx="11155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i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Mchuma jasho hulia kivulini.</a:t>
              </a:r>
              <a:endParaRPr lang="en-US" sz="900" i="1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02920" y="6601968"/>
              <a:ext cx="11155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Literal Translation: One who sweats in the sun eats in the shade. (Hard work pays off)</a:t>
              </a:r>
              <a:endParaRPr lang="en-US" sz="800" i="1" dirty="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4">
            <a:alphaModFix amt="17000"/>
            <a:lum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2: BERT Fine-tuning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371600"/>
          <a:ext cx="71323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ext 2"/>
          <p:cNvSpPr/>
          <p:nvPr/>
        </p:nvSpPr>
        <p:spPr>
          <a:xfrm>
            <a:off x="781812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5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AfriBERTa</a:t>
            </a:r>
            <a:r>
              <a:rPr lang="en-US" sz="1600" b="1" dirty="0">
                <a:solidFill>
                  <a:srgbClr val="5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Leading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818120" y="1792224"/>
            <a:ext cx="1371600" cy="0"/>
          </a:xfrm>
          <a:prstGeom prst="line">
            <a:avLst/>
          </a:prstGeom>
          <a:noFill/>
          <a:ln w="190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4"/>
          <p:cNvSpPr/>
          <p:nvPr/>
        </p:nvSpPr>
        <p:spPr>
          <a:xfrm>
            <a:off x="7818120" y="1965960"/>
            <a:ext cx="3840480" cy="1051560"/>
          </a:xfrm>
          <a:prstGeom prst="roundRect">
            <a:avLst>
              <a:gd name="adj" fmla="val 4348"/>
            </a:avLst>
          </a:prstGeom>
          <a:solidFill>
            <a:srgbClr val="F3F4F6"/>
          </a:solidFill>
          <a:ln w="508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5"/>
          <p:cNvSpPr/>
          <p:nvPr/>
        </p:nvSpPr>
        <p:spPr>
          <a:xfrm>
            <a:off x="7955280" y="20391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AfriBERTa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0" y="20391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20.2%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55280" y="24231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Cross-lingual transfer from 11 African languages — best result.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3154680"/>
            <a:ext cx="3840480" cy="1051560"/>
          </a:xfrm>
          <a:prstGeom prst="roundRect">
            <a:avLst>
              <a:gd name="adj" fmla="val 4348"/>
            </a:avLst>
          </a:prstGeom>
          <a:solidFill>
            <a:srgbClr val="FDFDF5"/>
          </a:solidFill>
          <a:ln w="508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9"/>
          <p:cNvSpPr/>
          <p:nvPr/>
        </p:nvSpPr>
        <p:spPr>
          <a:xfrm>
            <a:off x="7955280" y="32278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SwahBERT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0" y="32278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0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15.5%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55280" y="36118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Monolingual Swahili pretraining — solid second.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18120" y="4343400"/>
            <a:ext cx="3840480" cy="1051560"/>
          </a:xfrm>
          <a:prstGeom prst="roundRect">
            <a:avLst>
              <a:gd name="adj" fmla="val 4348"/>
            </a:avLst>
          </a:prstGeom>
          <a:solidFill>
            <a:srgbClr val="F3F4F6"/>
          </a:solidFill>
          <a:ln w="508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3"/>
          <p:cNvSpPr/>
          <p:nvPr/>
        </p:nvSpPr>
        <p:spPr>
          <a:xfrm>
            <a:off x="7955280" y="44165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DistilBERT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0" y="44165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14.4%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55280" y="48006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multilingual — 10 epochs needed to converge.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2FB232-3F1B-FAE3-B661-D0FF7093EE46}"/>
              </a:ext>
            </a:extLst>
          </p:cNvPr>
          <p:cNvGrpSpPr/>
          <p:nvPr/>
        </p:nvGrpSpPr>
        <p:grpSpPr>
          <a:xfrm>
            <a:off x="502920" y="6355080"/>
            <a:ext cx="11155680" cy="475488"/>
            <a:chOff x="502920" y="6355080"/>
            <a:chExt cx="11155680" cy="475488"/>
          </a:xfrm>
        </p:grpSpPr>
        <p:sp>
          <p:nvSpPr>
            <p:cNvPr id="21" name="Text 18"/>
            <p:cNvSpPr/>
            <p:nvPr/>
          </p:nvSpPr>
          <p:spPr>
            <a:xfrm>
              <a:off x="502920" y="6355080"/>
              <a:ext cx="11155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50" b="1" i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Akili ni nywele, kila mtu ana zake.</a:t>
              </a:r>
              <a:endParaRPr lang="en-US" sz="1050" i="1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502920" y="6601968"/>
              <a:ext cx="11155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Literal Translation: Intelligence is like hair; everyone has their own.</a:t>
              </a:r>
              <a:endParaRPr lang="en-US" sz="1000" i="1" dirty="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4">
            <a:alphaModFix amt="17000"/>
            <a:lum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3: MLM Domain Adaptation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Masked Language Modeling (15% mask) adapts pretrained models to the proverb domain before classification fine-tuning.</a:t>
            </a:r>
            <a:endParaRPr lang="en-US" sz="1300" b="1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" y="2743200"/>
          <a:ext cx="56692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Text 14"/>
          <p:cNvSpPr/>
          <p:nvPr/>
        </p:nvSpPr>
        <p:spPr>
          <a:xfrm>
            <a:off x="6400800" y="27432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MLM Adaptation Gains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400800" y="3108960"/>
            <a:ext cx="1645920" cy="0"/>
          </a:xfrm>
          <a:prstGeom prst="line">
            <a:avLst/>
          </a:prstGeom>
          <a:noFill/>
          <a:ln w="190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6"/>
          <p:cNvSpPr/>
          <p:nvPr/>
        </p:nvSpPr>
        <p:spPr>
          <a:xfrm>
            <a:off x="6400800" y="329184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D1E7D0"/>
          </a:solidFill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Text 17"/>
          <p:cNvSpPr/>
          <p:nvPr/>
        </p:nvSpPr>
        <p:spPr>
          <a:xfrm>
            <a:off x="653796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AfriBERTa-Large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37960" y="3675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(more capacity to specialize)</a:t>
            </a:r>
            <a:endParaRPr lang="en-US" sz="10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4A53E52-B3EF-65CC-A1F1-8391C5E03A44}"/>
              </a:ext>
            </a:extLst>
          </p:cNvPr>
          <p:cNvGrpSpPr/>
          <p:nvPr/>
        </p:nvGrpSpPr>
        <p:grpSpPr>
          <a:xfrm>
            <a:off x="6537960" y="3846163"/>
            <a:ext cx="1554480" cy="475488"/>
            <a:chOff x="6537960" y="3977640"/>
            <a:chExt cx="1554480" cy="475488"/>
          </a:xfrm>
        </p:grpSpPr>
        <p:sp>
          <p:nvSpPr>
            <p:cNvPr id="22" name="Text 19"/>
            <p:cNvSpPr/>
            <p:nvPr/>
          </p:nvSpPr>
          <p:spPr>
            <a:xfrm>
              <a:off x="6537960" y="3977640"/>
              <a:ext cx="1554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A6B5D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+1.28%</a:t>
              </a:r>
              <a:endParaRPr lang="en-US" sz="12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6537960" y="4224528"/>
              <a:ext cx="15544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accuracy</a:t>
              </a:r>
              <a:endParaRPr lang="en-US" sz="1050" dirty="0"/>
            </a:p>
          </p:txBody>
        </p:sp>
      </p:grpSp>
      <p:sp>
        <p:nvSpPr>
          <p:cNvPr id="24" name="Text 21"/>
          <p:cNvSpPr/>
          <p:nvPr/>
        </p:nvSpPr>
        <p:spPr>
          <a:xfrm>
            <a:off x="8229600" y="38342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+1.45%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59480" y="403925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0" y="448056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4"/>
          <p:cNvSpPr/>
          <p:nvPr/>
        </p:nvSpPr>
        <p:spPr>
          <a:xfrm>
            <a:off x="653796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SwahBERT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537960" y="4864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(already Swahili-specialized)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537960" y="5016949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+0.49%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537960" y="519809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229600" y="50289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0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+1.16%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229600" y="52279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F1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472EAA-2185-E45C-BCE9-19C5658A7AEB}"/>
              </a:ext>
            </a:extLst>
          </p:cNvPr>
          <p:cNvGrpSpPr/>
          <p:nvPr/>
        </p:nvGrpSpPr>
        <p:grpSpPr>
          <a:xfrm>
            <a:off x="502920" y="6355080"/>
            <a:ext cx="11155680" cy="475488"/>
            <a:chOff x="502920" y="6355080"/>
            <a:chExt cx="11155680" cy="475488"/>
          </a:xfrm>
        </p:grpSpPr>
        <p:sp>
          <p:nvSpPr>
            <p:cNvPr id="35" name="Text 32"/>
            <p:cNvSpPr/>
            <p:nvPr/>
          </p:nvSpPr>
          <p:spPr>
            <a:xfrm>
              <a:off x="502920" y="6355080"/>
              <a:ext cx="11155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50" b="1" i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Maji yakimwagika hayazoleki.</a:t>
              </a:r>
              <a:endParaRPr lang="en-US" sz="1050" i="1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502920" y="6601968"/>
              <a:ext cx="11155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Literal Translation: Spilled water cannot be gathered up.</a:t>
              </a:r>
              <a:endParaRPr lang="en-US" sz="1000" i="1" dirty="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4">
            <a:alphaModFix amt="17000"/>
            <a:lum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4: Llama-3 Prompting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Llama-3-8B-Instruct classifies proverbs with no parameter updates — only prompt engineering.</a:t>
            </a:r>
            <a:endParaRPr lang="en-US" sz="1300" b="1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40680" cy="3520440"/>
          </a:xfrm>
          <a:prstGeom prst="roundRect">
            <a:avLst>
              <a:gd name="adj" fmla="val 2597"/>
            </a:avLst>
          </a:prstGeom>
          <a:solidFill>
            <a:srgbClr val="D1E7D0"/>
          </a:solidFill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4709160" y="1965960"/>
            <a:ext cx="1143000" cy="365760"/>
          </a:xfrm>
          <a:prstGeom prst="roundRect">
            <a:avLst>
              <a:gd name="adj" fmla="val 12500"/>
            </a:avLst>
          </a:prstGeom>
          <a:solidFill>
            <a:srgbClr val="5A6B5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4709160" y="19659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2900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21.1%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777240" y="3611880"/>
            <a:ext cx="489204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777240" y="374904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contains all 56 category names. Model classifies via internal semantic reasoning across the full label space.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5440680" cy="3520440"/>
          </a:xfrm>
          <a:prstGeom prst="roundRect">
            <a:avLst>
              <a:gd name="adj" fmla="val 2597"/>
            </a:avLst>
          </a:prstGeom>
          <a:solidFill>
            <a:srgbClr val="F3F4F6"/>
          </a:solidFill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640080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0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14400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2880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0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8.9%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6492240" y="3611880"/>
            <a:ext cx="489204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6492240" y="374904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example proverbs per category for 10 of 56 categories (context length limit). Bias toward exemplified classes hurts coverage of the remaining 46.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553212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FDFDF5"/>
          </a:solidFill>
          <a:ln w="12700">
            <a:solidFill>
              <a:srgbClr val="5A6B5D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40080" y="55778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 WINS — providing examples for only 10/56 categories biased the model. 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69D1190-A96F-EA7F-7359-40DBA9AA209B}"/>
              </a:ext>
            </a:extLst>
          </p:cNvPr>
          <p:cNvGrpSpPr/>
          <p:nvPr/>
        </p:nvGrpSpPr>
        <p:grpSpPr>
          <a:xfrm>
            <a:off x="502920" y="6355080"/>
            <a:ext cx="11155680" cy="475488"/>
            <a:chOff x="502920" y="6355080"/>
            <a:chExt cx="11155680" cy="475488"/>
          </a:xfrm>
        </p:grpSpPr>
        <p:sp>
          <p:nvSpPr>
            <p:cNvPr id="26" name="Text 24"/>
            <p:cNvSpPr/>
            <p:nvPr/>
          </p:nvSpPr>
          <p:spPr>
            <a:xfrm>
              <a:off x="502920" y="6355080"/>
              <a:ext cx="11155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i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Maneno matupu hayajengi nyumba.</a:t>
              </a:r>
              <a:endParaRPr lang="en-US" sz="900" i="1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02920" y="6601968"/>
              <a:ext cx="11155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Literal Translation: Empty words do not build a house.</a:t>
              </a:r>
              <a:endParaRPr lang="en-US" sz="800" i="1" dirty="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4">
            <a:alphaModFix amt="17000"/>
            <a:lum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Comparison: All Methods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methods across </a:t>
            </a:r>
            <a:endParaRPr lang="en-US" sz="1300" b="1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783080"/>
          <a:ext cx="11155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A2811BC-65B5-4648-4256-5131C8D870F3}"/>
              </a:ext>
            </a:extLst>
          </p:cNvPr>
          <p:cNvGrpSpPr/>
          <p:nvPr/>
        </p:nvGrpSpPr>
        <p:grpSpPr>
          <a:xfrm>
            <a:off x="502920" y="6355080"/>
            <a:ext cx="11155680" cy="475488"/>
            <a:chOff x="502920" y="6355080"/>
            <a:chExt cx="11155680" cy="475488"/>
          </a:xfrm>
        </p:grpSpPr>
        <p:sp>
          <p:nvSpPr>
            <p:cNvPr id="8" name="Text 5"/>
            <p:cNvSpPr/>
            <p:nvPr/>
          </p:nvSpPr>
          <p:spPr>
            <a:xfrm>
              <a:off x="502920" y="6355080"/>
              <a:ext cx="11155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i="1" dirty="0" err="1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Kuishi</a:t>
              </a:r>
              <a:r>
                <a:rPr lang="en-US" sz="900" b="1" i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</a:t>
              </a:r>
              <a:r>
                <a:rPr lang="en-US" sz="900" b="1" i="1" dirty="0" err="1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kwingi</a:t>
              </a:r>
              <a:r>
                <a:rPr lang="en-US" sz="900" b="1" i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</a:t>
              </a:r>
              <a:r>
                <a:rPr lang="en-US" sz="900" b="1" i="1" dirty="0" err="1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ni</a:t>
              </a:r>
              <a:r>
                <a:rPr lang="en-US" sz="900" b="1" i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kuna </a:t>
              </a:r>
              <a:r>
                <a:rPr lang="en-US" sz="900" b="1" i="1" dirty="0" err="1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mengi</a:t>
              </a:r>
              <a:endParaRPr lang="en-US" sz="900" i="1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502920" y="6601968"/>
              <a:ext cx="11155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Literal translation: </a:t>
              </a:r>
              <a:r>
                <a:rPr lang="en-US" sz="800" i="1" dirty="0" err="1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Livng</a:t>
              </a:r>
              <a:r>
                <a:rPr lang="en-US" sz="8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long is </a:t>
              </a:r>
              <a:r>
                <a:rPr lang="en-US" sz="800" i="1" dirty="0" err="1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exoeriencing</a:t>
              </a:r>
              <a:r>
                <a:rPr lang="en-US" sz="8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life</a:t>
              </a:r>
              <a:endParaRPr lang="en-US" sz="800" dirty="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4">
            <a:alphaModFix amt="17000"/>
            <a:lum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Challenge: The Metaphor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fundamental challenge for ALL models is the semantic gap between proverb text and abstract category labels.</a:t>
            </a:r>
            <a:endParaRPr lang="en-US" sz="1500" b="1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5943600" cy="2286000"/>
          </a:xfrm>
          <a:prstGeom prst="roundRect">
            <a:avLst>
              <a:gd name="adj" fmla="val 3200"/>
            </a:avLst>
          </a:prstGeom>
          <a:solidFill>
            <a:srgbClr val="D1E7D0"/>
          </a:solidFill>
          <a:ln w="9525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0" cy="2011680"/>
          </a:xfrm>
          <a:prstGeom prst="line">
            <a:avLst/>
          </a:prstGeom>
          <a:noFill/>
          <a:ln w="38100">
            <a:solidFill>
              <a:srgbClr val="5A6B5D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r>
              <a:rPr lang="en-US" b="1" i="1" dirty="0" err="1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Aigaye</a:t>
            </a:r>
            <a:r>
              <a:rPr lang="en-US" b="1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i="1" dirty="0" err="1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tembo</a:t>
            </a:r>
            <a:r>
              <a:rPr lang="en-US" b="1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kunya </a:t>
            </a:r>
            <a:r>
              <a:rPr lang="en-US" b="1" i="1" dirty="0" err="1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hupasuka</a:t>
            </a:r>
            <a:r>
              <a:rPr lang="en-US" b="1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i="1" dirty="0" err="1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msamba</a:t>
            </a:r>
            <a:r>
              <a:rPr lang="en-US" sz="1800" b="1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Literal: Doing things beyond your means can be detrimental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840480"/>
            <a:ext cx="521208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Category: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surface word in the proverb refers to being within means. </a:t>
            </a:r>
            <a:endParaRPr lang="en-US" sz="1100" dirty="0"/>
          </a:p>
        </p:txBody>
      </p:sp>
      <p:pic>
        <p:nvPicPr>
          <p:cNvPr id="13" name="Image 0" descr="/home/claude/savanna/tree_sunset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75120" y="1554480"/>
            <a:ext cx="4983480" cy="44348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B89E04-A46F-EBFA-31AD-6CE66C71F74D}"/>
              </a:ext>
            </a:extLst>
          </p:cNvPr>
          <p:cNvGrpSpPr/>
          <p:nvPr/>
        </p:nvGrpSpPr>
        <p:grpSpPr>
          <a:xfrm>
            <a:off x="502920" y="6355080"/>
            <a:ext cx="11155680" cy="475488"/>
            <a:chOff x="502920" y="6355080"/>
            <a:chExt cx="11155680" cy="475488"/>
          </a:xfrm>
        </p:grpSpPr>
        <p:sp>
          <p:nvSpPr>
            <p:cNvPr id="15" name="Text 12"/>
            <p:cNvSpPr/>
            <p:nvPr/>
          </p:nvSpPr>
          <p:spPr>
            <a:xfrm>
              <a:off x="502920" y="6355080"/>
              <a:ext cx="11155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50" b="1" i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Kivuli cha fimbo hakimficha mtu jua.</a:t>
              </a:r>
              <a:endParaRPr lang="en-US" sz="1050" i="1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502920" y="6601968"/>
              <a:ext cx="11155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Literal Translation: The shadow of a stick does not hide a person from the sun.</a:t>
              </a:r>
              <a:endParaRPr lang="en-US" sz="1000" i="1" dirty="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4">
            <a:alphaModFix amt="17000"/>
            <a:lum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0"/>
          </a:xfrm>
          <a:prstGeom prst="line">
            <a:avLst/>
          </a:prstGeom>
          <a:noFill/>
          <a:ln w="63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D1E7D0"/>
          </a:solidFill>
          <a:ln w="762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94360" cy="594360"/>
          </a:xfrm>
          <a:prstGeom prst="ellipse">
            <a:avLst/>
          </a:prstGeom>
          <a:solidFill>
            <a:srgbClr val="5A6B5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D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may be best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(24%) beats all other complex methods.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~65 training examples per class, transformers cannot fully exploit their capacity.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762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6446520" y="1691640"/>
            <a:ext cx="594360" cy="594360"/>
          </a:xfrm>
          <a:prstGeom prst="ellipse">
            <a:avLst/>
          </a:prstGeom>
          <a:solidFill>
            <a:srgbClr val="5A6B5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644652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D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78040" y="17373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Specificity Matters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AfriBERTa &gt; SwahBERT &gt; DistilBERT. Cross-lingual transfer from related Bantu languages outperforms generic multilingual pretraining.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D1E7D0"/>
          </a:solidFill>
          <a:ln w="762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594360" cy="594360"/>
          </a:xfrm>
          <a:prstGeom prst="ellipse">
            <a:avLst/>
          </a:prstGeom>
          <a:solidFill>
            <a:srgbClr val="5A6B5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D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069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MLM Adaptation is  Reliable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70916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Domain-adaptive pretraining consistently improves results.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extra epoch of MLM adds meaningful, consistent value.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762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6446520" y="4023360"/>
            <a:ext cx="594360" cy="594360"/>
          </a:xfrm>
          <a:prstGeom prst="ellipse">
            <a:avLst/>
          </a:prstGeom>
          <a:solidFill>
            <a:srgbClr val="5A6B5D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6446520" y="4023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D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78040" y="4069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Match Fine-tuning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70916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 zero-shot (20% acc, 21% F1) matches fine-tuned BERT. 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E95DDD-F759-EF30-F4DA-DDCF5D139696}"/>
              </a:ext>
            </a:extLst>
          </p:cNvPr>
          <p:cNvGrpSpPr/>
          <p:nvPr/>
        </p:nvGrpSpPr>
        <p:grpSpPr>
          <a:xfrm>
            <a:off x="502920" y="6355080"/>
            <a:ext cx="11155680" cy="475488"/>
            <a:chOff x="502920" y="6355080"/>
            <a:chExt cx="11155680" cy="475488"/>
          </a:xfrm>
        </p:grpSpPr>
        <p:sp>
          <p:nvSpPr>
            <p:cNvPr id="25" name="Text 23"/>
            <p:cNvSpPr/>
            <p:nvPr/>
          </p:nvSpPr>
          <p:spPr>
            <a:xfrm>
              <a:off x="502920" y="6355080"/>
              <a:ext cx="11155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b="1" i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Penye nia pana njia.</a:t>
              </a:r>
              <a:endParaRPr lang="en-US" sz="1000" i="1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02920" y="6601968"/>
              <a:ext cx="11155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Literal Translation: Where there is a will, there is a way.</a:t>
              </a:r>
              <a:endParaRPr lang="en-US" sz="900" i="1" dirty="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7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0000" y="1550000"/>
            <a:ext cx="5400000" cy="20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2000" y="1550000"/>
            <a:ext cx="5400000" cy="20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0000" y="3750000"/>
            <a:ext cx="5400000" cy="20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2000" y="3750000"/>
            <a:ext cx="5400000" cy="20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48750" y="571500"/>
            <a:ext cx="2381250" cy="1428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B16548A-17FE-E345-4B61-9BB0A26228ED}"/>
              </a:ext>
            </a:extLst>
          </p:cNvPr>
          <p:cNvGrpSpPr/>
          <p:nvPr/>
        </p:nvGrpSpPr>
        <p:grpSpPr>
          <a:xfrm>
            <a:off x="762000" y="6124575"/>
            <a:ext cx="10668000" cy="449163"/>
            <a:chOff x="762000" y="6124575"/>
            <a:chExt cx="10668000" cy="449163"/>
          </a:xfrm>
        </p:grpSpPr>
        <p:sp>
          <p:nvSpPr>
            <p:cNvPr id="91" name="Google Shape;91;p13"/>
            <p:cNvSpPr txBox="1"/>
            <p:nvPr/>
          </p:nvSpPr>
          <p:spPr>
            <a:xfrm>
              <a:off x="762000" y="6124575"/>
              <a:ext cx="10668000" cy="169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1" u="none" strike="noStrike" cap="none" dirty="0">
                  <a:solidFill>
                    <a:srgbClr val="2C3E50"/>
                  </a:solidFill>
                  <a:latin typeface="Georgia"/>
                  <a:ea typeface="Georgia"/>
                  <a:cs typeface="Georgia"/>
                  <a:sym typeface="Georgia"/>
                </a:rPr>
                <a:t>Umoja </a:t>
              </a:r>
              <a:r>
                <a:rPr lang="en-US" sz="1100" b="1" i="1" u="none" strike="noStrike" cap="none" dirty="0" err="1">
                  <a:solidFill>
                    <a:srgbClr val="2C3E50"/>
                  </a:solidFill>
                  <a:latin typeface="Georgia"/>
                  <a:ea typeface="Georgia"/>
                  <a:cs typeface="Georgia"/>
                  <a:sym typeface="Georgia"/>
                </a:rPr>
                <a:t>ni</a:t>
              </a:r>
              <a:r>
                <a:rPr lang="en-US" sz="1100" b="1" i="1" u="none" strike="noStrike" cap="none" dirty="0">
                  <a:solidFill>
                    <a:srgbClr val="2C3E50"/>
                  </a:solidFill>
                  <a:latin typeface="Georgia"/>
                  <a:ea typeface="Georgia"/>
                  <a:cs typeface="Georgia"/>
                  <a:sym typeface="Georgia"/>
                </a:rPr>
                <a:t> </a:t>
              </a:r>
              <a:r>
                <a:rPr lang="en-US" sz="1100" b="1" i="1" u="none" strike="noStrike" cap="none" dirty="0" err="1">
                  <a:solidFill>
                    <a:srgbClr val="2C3E50"/>
                  </a:solidFill>
                  <a:latin typeface="Georgia"/>
                  <a:ea typeface="Georgia"/>
                  <a:cs typeface="Georgia"/>
                  <a:sym typeface="Georgia"/>
                </a:rPr>
                <a:t>nguvu</a:t>
              </a:r>
              <a:r>
                <a:rPr lang="en-US" sz="1100" b="1" i="1" u="none" strike="noStrike" cap="none" dirty="0">
                  <a:solidFill>
                    <a:srgbClr val="2C3E50"/>
                  </a:solidFill>
                  <a:latin typeface="Georgia"/>
                  <a:ea typeface="Georgia"/>
                  <a:cs typeface="Georgia"/>
                  <a:sym typeface="Georgia"/>
                </a:rPr>
                <a:t>, </a:t>
              </a:r>
              <a:r>
                <a:rPr lang="en-US" sz="1100" b="1" i="1" u="none" strike="noStrike" cap="none" dirty="0" err="1">
                  <a:solidFill>
                    <a:srgbClr val="2C3E50"/>
                  </a:solidFill>
                  <a:latin typeface="Georgia"/>
                  <a:ea typeface="Georgia"/>
                  <a:cs typeface="Georgia"/>
                  <a:sym typeface="Georgia"/>
                </a:rPr>
                <a:t>utengano</a:t>
              </a:r>
              <a:r>
                <a:rPr lang="en-US" sz="1100" b="1" i="1" u="none" strike="noStrike" cap="none" dirty="0">
                  <a:solidFill>
                    <a:srgbClr val="2C3E50"/>
                  </a:solidFill>
                  <a:latin typeface="Georgia"/>
                  <a:ea typeface="Georgia"/>
                  <a:cs typeface="Georgia"/>
                  <a:sym typeface="Georgia"/>
                </a:rPr>
                <a:t> </a:t>
              </a:r>
              <a:r>
                <a:rPr lang="en-US" sz="1100" b="1" i="1" u="none" strike="noStrike" cap="none" dirty="0" err="1">
                  <a:solidFill>
                    <a:srgbClr val="2C3E50"/>
                  </a:solidFill>
                  <a:latin typeface="Georgia"/>
                  <a:ea typeface="Georgia"/>
                  <a:cs typeface="Georgia"/>
                  <a:sym typeface="Georgia"/>
                </a:rPr>
                <a:t>ni</a:t>
              </a:r>
              <a:r>
                <a:rPr lang="en-US" sz="1100" b="1" i="1" u="none" strike="noStrike" cap="none" dirty="0">
                  <a:solidFill>
                    <a:srgbClr val="2C3E50"/>
                  </a:solidFill>
                  <a:latin typeface="Georgia"/>
                  <a:ea typeface="Georgia"/>
                  <a:cs typeface="Georgia"/>
                  <a:sym typeface="Georgia"/>
                </a:rPr>
                <a:t> </a:t>
              </a:r>
              <a:r>
                <a:rPr lang="en-US" sz="1100" b="1" i="1" u="none" strike="noStrike" cap="none" dirty="0" err="1">
                  <a:solidFill>
                    <a:srgbClr val="2C3E50"/>
                  </a:solidFill>
                  <a:latin typeface="Georgia"/>
                  <a:ea typeface="Georgia"/>
                  <a:cs typeface="Georgia"/>
                  <a:sym typeface="Georgia"/>
                </a:rPr>
                <a:t>udhaifu</a:t>
              </a:r>
              <a:r>
                <a:rPr lang="en-US" sz="1100" b="1" i="1" u="none" strike="noStrike" cap="none" dirty="0">
                  <a:solidFill>
                    <a:srgbClr val="2C3E50"/>
                  </a:solidFill>
                  <a:latin typeface="Georgia"/>
                  <a:ea typeface="Georgia"/>
                  <a:cs typeface="Georgia"/>
                  <a:sym typeface="Georgia"/>
                </a:rPr>
                <a:t>.</a:t>
              </a:r>
              <a:endParaRPr sz="1100" i="1" dirty="0"/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762000" y="6419850"/>
              <a:ext cx="10668000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1" u="none" strike="noStrike" cap="none" dirty="0">
                  <a:solidFill>
                    <a:srgbClr val="718096"/>
                  </a:solidFill>
                  <a:latin typeface="Georgia"/>
                  <a:ea typeface="Georgia"/>
                  <a:cs typeface="Georgia"/>
                  <a:sym typeface="Georgia"/>
                </a:rPr>
                <a:t> Literal: Unity is strength, division is weakness. </a:t>
              </a:r>
              <a:endParaRPr sz="1100" i="1" dirty="0"/>
            </a:p>
          </p:txBody>
        </p:sp>
      </p:grpSp>
      <p:pic>
        <p:nvPicPr>
          <p:cNvPr id="93" name="Google Shape;93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5596" y="1810216"/>
            <a:ext cx="594495" cy="3808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1653814" y="1830780"/>
            <a:ext cx="4744073" cy="19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A5568"/>
                </a:solidFill>
                <a:latin typeface="Georgia"/>
                <a:ea typeface="Georgia"/>
                <a:cs typeface="Georgia"/>
                <a:sym typeface="Georgia"/>
              </a:rPr>
              <a:t>Ensemble Architectures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1075596" y="2358436"/>
            <a:ext cx="4518165" cy="57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5568"/>
                </a:solidFill>
                <a:latin typeface="Georgia"/>
                <a:ea typeface="Georgia"/>
                <a:cs typeface="Georgia"/>
                <a:sym typeface="Georgia"/>
              </a:rPr>
              <a:t>Combine TF-IDF lexical weights with BERT contextual embeddings to capture both surface-level and structural semantics.</a:t>
            </a:r>
            <a:endParaRPr dirty="0"/>
          </a:p>
        </p:txBody>
      </p:sp>
      <p:pic>
        <p:nvPicPr>
          <p:cNvPr id="96" name="Google Shape;96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67596" y="1810216"/>
            <a:ext cx="594495" cy="38080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7239100" y="1857683"/>
            <a:ext cx="4744073" cy="19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A5568"/>
                </a:solidFill>
                <a:latin typeface="Georgia"/>
                <a:ea typeface="Georgia"/>
                <a:cs typeface="Georgia"/>
                <a:sym typeface="Georgia"/>
              </a:rPr>
              <a:t>Data Augmentation</a:t>
            </a:r>
            <a:endParaRPr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6667596" y="2271034"/>
            <a:ext cx="4518165" cy="57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5568"/>
                </a:solidFill>
                <a:latin typeface="Georgia"/>
                <a:ea typeface="Georgia"/>
                <a:cs typeface="Georgia"/>
                <a:sym typeface="Georgia"/>
              </a:rPr>
              <a:t>Implement further preprocessing using synonym substitution or proverb paraphrasing to expand the low-resource dataset.</a:t>
            </a:r>
            <a:endParaRPr dirty="0"/>
          </a:p>
        </p:txBody>
      </p:sp>
      <p:pic>
        <p:nvPicPr>
          <p:cNvPr id="99" name="Google Shape;99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75596" y="4010216"/>
            <a:ext cx="594495" cy="3808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1734509" y="4077848"/>
            <a:ext cx="474407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A5568"/>
                </a:solidFill>
                <a:latin typeface="Georgia"/>
                <a:ea typeface="Georgia"/>
                <a:cs typeface="Georgia"/>
                <a:sym typeface="Georgia"/>
              </a:rPr>
              <a:t>Use Contrastive Learning</a:t>
            </a:r>
            <a:endParaRPr dirty="0"/>
          </a:p>
        </p:txBody>
      </p:sp>
      <p:sp>
        <p:nvSpPr>
          <p:cNvPr id="101" name="Google Shape;101;p13"/>
          <p:cNvSpPr txBox="1"/>
          <p:nvPr/>
        </p:nvSpPr>
        <p:spPr>
          <a:xfrm>
            <a:off x="1075596" y="4618948"/>
            <a:ext cx="451816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5568"/>
                </a:solidFill>
                <a:latin typeface="Georgia"/>
                <a:ea typeface="Georgia"/>
                <a:cs typeface="Georgia"/>
                <a:sym typeface="Georgia"/>
              </a:rPr>
              <a:t>Training similar proverbs in pairs or groups that carry identical semantics t force models to learn underlying meanings.</a:t>
            </a:r>
            <a:endParaRPr dirty="0"/>
          </a:p>
        </p:txBody>
      </p:sp>
      <p:pic>
        <p:nvPicPr>
          <p:cNvPr id="102" name="Google Shape;102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67596" y="4010216"/>
            <a:ext cx="594495" cy="38080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7192035" y="4050952"/>
            <a:ext cx="474407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4A5568"/>
                </a:solidFill>
                <a:latin typeface="Georgia"/>
                <a:ea typeface="Georgia"/>
                <a:cs typeface="Georgia"/>
                <a:sym typeface="Georgia"/>
              </a:rPr>
              <a:t>QLoRAFine</a:t>
            </a:r>
            <a:r>
              <a:rPr lang="en-US" sz="1950" b="1" i="0" u="none" strike="noStrike" cap="none" dirty="0">
                <a:solidFill>
                  <a:srgbClr val="4A5568"/>
                </a:solidFill>
                <a:latin typeface="Georgia"/>
                <a:ea typeface="Georgia"/>
                <a:cs typeface="Georgia"/>
                <a:sym typeface="Georgia"/>
              </a:rPr>
              <a:t>-tuning</a:t>
            </a:r>
            <a:endParaRPr dirty="0"/>
          </a:p>
        </p:txBody>
      </p:sp>
      <p:sp>
        <p:nvSpPr>
          <p:cNvPr id="104" name="Google Shape;104;p13"/>
          <p:cNvSpPr txBox="1"/>
          <p:nvPr/>
        </p:nvSpPr>
        <p:spPr>
          <a:xfrm>
            <a:off x="6876028" y="4504646"/>
            <a:ext cx="451816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5568"/>
                </a:solidFill>
                <a:latin typeface="Georgia"/>
                <a:ea typeface="Georgia"/>
                <a:cs typeface="Georgia"/>
                <a:sym typeface="Georgia"/>
              </a:rPr>
              <a:t>Adapt Llama-3-8B with the full training set specifically for proverb-</a:t>
            </a:r>
            <a:r>
              <a:rPr lang="en-US" sz="1500" b="0" i="0" u="none" strike="noStrike" cap="none" dirty="0" err="1">
                <a:solidFill>
                  <a:srgbClr val="4A5568"/>
                </a:solidFill>
                <a:latin typeface="Georgia"/>
                <a:ea typeface="Georgia"/>
                <a:cs typeface="Georgia"/>
                <a:sym typeface="Georgia"/>
              </a:rPr>
              <a:t>levl</a:t>
            </a:r>
            <a:r>
              <a:rPr lang="en-US" sz="1500" b="0" i="0" u="none" strike="noStrike" cap="none" dirty="0">
                <a:solidFill>
                  <a:srgbClr val="4A5568"/>
                </a:solidFill>
                <a:latin typeface="Georgia"/>
                <a:ea typeface="Georgia"/>
                <a:cs typeface="Georgia"/>
                <a:sym typeface="Georgia"/>
              </a:rPr>
              <a:t> patterns to improve metaphorical reasoning.</a:t>
            </a:r>
            <a:endParaRPr dirty="0"/>
          </a:p>
        </p:txBody>
      </p:sp>
      <p:pic>
        <p:nvPicPr>
          <p:cNvPr id="105" name="Google Shape;105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4311" y="1911764"/>
            <a:ext cx="317064" cy="177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806311" y="1911764"/>
            <a:ext cx="317064" cy="177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234128" y="4111764"/>
            <a:ext cx="277431" cy="177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826128" y="4111764"/>
            <a:ext cx="277431" cy="17770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331691" y="325570"/>
            <a:ext cx="11201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2C3E50"/>
                </a:solidFill>
                <a:latin typeface="Georgia"/>
                <a:ea typeface="Georgia"/>
                <a:cs typeface="Georgia"/>
                <a:sym typeface="Georgia"/>
              </a:rPr>
              <a:t>Future Research</a:t>
            </a:r>
            <a:endParaRPr dirty="0"/>
          </a:p>
        </p:txBody>
      </p:sp>
      <p:sp>
        <p:nvSpPr>
          <p:cNvPr id="110" name="Google Shape;110;p13"/>
          <p:cNvSpPr/>
          <p:nvPr/>
        </p:nvSpPr>
        <p:spPr>
          <a:xfrm>
            <a:off x="762000" y="1569987"/>
            <a:ext cx="10668000" cy="19050"/>
          </a:xfrm>
          <a:prstGeom prst="rect">
            <a:avLst/>
          </a:prstGeom>
          <a:solidFill>
            <a:srgbClr val="D1E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2392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645920"/>
            <a:ext cx="9418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80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4114800" y="3520440"/>
            <a:ext cx="3931920" cy="0"/>
          </a:xfrm>
          <a:prstGeom prst="line">
            <a:avLst/>
          </a:prstGeom>
          <a:noFill/>
          <a:ln w="19050">
            <a:solidFill>
              <a:srgbClr val="809B8E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371600" y="48463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Belinda Mziray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6263640"/>
            <a:ext cx="11155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C7B06D-455A-1564-EC3C-F648E44A5764}"/>
              </a:ext>
            </a:extLst>
          </p:cNvPr>
          <p:cNvGrpSpPr/>
          <p:nvPr/>
        </p:nvGrpSpPr>
        <p:grpSpPr>
          <a:xfrm>
            <a:off x="502920" y="6355080"/>
            <a:ext cx="11155680" cy="475488"/>
            <a:chOff x="502920" y="6355080"/>
            <a:chExt cx="11155680" cy="475488"/>
          </a:xfrm>
        </p:grpSpPr>
        <p:sp>
          <p:nvSpPr>
            <p:cNvPr id="8" name="Text 6"/>
            <p:cNvSpPr/>
            <p:nvPr/>
          </p:nvSpPr>
          <p:spPr>
            <a:xfrm>
              <a:off x="502920" y="6355080"/>
              <a:ext cx="11155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 err="1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Kilicho</a:t>
              </a:r>
              <a:r>
                <a:rPr lang="en-US" sz="900" b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</a:t>
              </a:r>
              <a:r>
                <a:rPr lang="en-US" sz="900" b="1" dirty="0" err="1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na</a:t>
              </a:r>
              <a:r>
                <a:rPr lang="en-US" sz="900" b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</a:t>
              </a:r>
              <a:r>
                <a:rPr lang="en-US" sz="900" b="1" dirty="0" err="1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mwanzo</a:t>
              </a:r>
              <a:r>
                <a:rPr lang="en-US" sz="900" b="1" dirty="0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kina </a:t>
              </a:r>
              <a:r>
                <a:rPr lang="en-US" sz="900" b="1" dirty="0" err="1">
                  <a:solidFill>
                    <a:srgbClr val="1F293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mwisho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" y="6601968"/>
              <a:ext cx="111556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B728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Literal Translation: All must come to an end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1059</Words>
  <Application>Microsoft Office PowerPoint</Application>
  <PresentationFormat>Widescreen</PresentationFormat>
  <Paragraphs>208</Paragraphs>
  <Slides>19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of Swahili Proverbs</dc:title>
  <dc:subject>PptxGenJS Presentation</dc:subject>
  <dc:creator>Belinda Mziray</dc:creator>
  <cp:lastModifiedBy>Belinda Mziray</cp:lastModifiedBy>
  <cp:revision>16</cp:revision>
  <dcterms:created xsi:type="dcterms:W3CDTF">2026-05-20T20:25:43Z</dcterms:created>
  <dcterms:modified xsi:type="dcterms:W3CDTF">2026-05-21T14:58:03Z</dcterms:modified>
</cp:coreProperties>
</file>